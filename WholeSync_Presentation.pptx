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faculties. Today I am presenting WholeSync, a localized B2B wholesale marketplace platform engineered specifically for Tamil Nadu's 38 districts. It solves the massive physical and financial friction between regional wholesale distributors and small retail shopkeepers.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bad options merchants currently face: traveling physically, paying massive paywalls on IndiaMart just to see a phone number, or giving away 10% commission on Udaan. WholeSync eliminates this artificial bottleneck.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our core philosophy: WholeSync steps completely out of the transaction path. We are a transparent digital directory, not an annoying middleman who demands a cut of every sack of rice.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evaluators through both sides of the marketplace: Muthu the wholesaler who needs fast bulk inventory management, and Karthik the retailer who needs transparent local sourcing.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our 6 core modules: District geo-engine, Excel upload parser, RBAC, Celery async verification, bookmarks, and high-performance vanilla frontend.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Evaluators love to ask: Why Django over MERN? Explain that Django has built-in security against SQL injection, CSRF, and clickjacking out of the box, with zero npm dependency bloat.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examiner through the 3-tier architecture: Presentation tier, Application tier, and Data/Worker tier. Emphasize why async background jobs are standard in production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to the evaluators how WholeSync addresses the OWASP Top 10 vulnerabilities directly: RBAC decorators, parameterized ORM queries, rate-limiting, and cryptographic HMAC tokens.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our rigorous automated test suite. Mention that 26 comprehensive tests cover security, Excel bulk parsing, RBAC, and Celery error fallbacks. This proves the codebase is stable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comparison table. IndiaMart charges ₹25,000+ for lead generation and hides numbers. Udaan charges up to 15% commission. WholeSync is completely free, transparent, and built strictly for Tamil Nadu.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evaluators that this is not a static college assignment, but a scalable product with a clear 4-phase vision: Tamil voice search, WhatsApp notifications, AI price trend forecasting, and ONDC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3 most common trap questions asked in engineering vivas. Review these answers carefully: Django security benefits, Celery fallback resiliency, and inventory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confidently: Thank the evaluators, invite them to test the live deployment on Render, and open the floor for questions and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A843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97280"/>
            <a:ext cx="3474720" cy="411480"/>
          </a:xfrm>
          <a:prstGeom prst="roundRect">
            <a:avLst/>
          </a:prstGeom>
          <a:solidFill>
            <a:srgbClr val="D5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1E1B18"/>
                </a:solidFill>
              </a:defRPr>
            </a:pPr>
            <a:r>
              <a:t>★ TAMIL NADU B2B E-COMMERCE</a:t>
            </a:r>
          </a:p>
        </p:txBody>
      </p:sp>
      <p:sp>
        <p:nvSpPr>
          <p:cNvPr id="5" name="TextBox 4"/>
          <p:cNvSpPr txBox="1"/>
          <p:nvPr/>
        </p:nvSpPr>
        <p:spPr>
          <a:xfrm>
            <a:off x="731520" y="1645920"/>
            <a:ext cx="10515600" cy="1371600"/>
          </a:xfrm>
          <a:prstGeom prst="rect">
            <a:avLst/>
          </a:prstGeom>
          <a:noFill/>
        </p:spPr>
        <p:txBody>
          <a:bodyPr wrap="square">
            <a:spAutoFit/>
          </a:bodyPr>
          <a:lstStyle/>
          <a:p>
            <a:pPr>
              <a:defRPr sz="5600" b="1">
                <a:solidFill>
                  <a:srgbClr val="A84331"/>
                </a:solidFill>
              </a:defRPr>
            </a:pPr>
            <a:r>
              <a:t>WholeSync</a:t>
            </a:r>
          </a:p>
        </p:txBody>
      </p:sp>
      <p:sp>
        <p:nvSpPr>
          <p:cNvPr id="6" name="TextBox 5"/>
          <p:cNvSpPr txBox="1"/>
          <p:nvPr/>
        </p:nvSpPr>
        <p:spPr>
          <a:xfrm>
            <a:off x="731520" y="2926080"/>
            <a:ext cx="10515600" cy="914400"/>
          </a:xfrm>
          <a:prstGeom prst="rect">
            <a:avLst/>
          </a:prstGeom>
          <a:noFill/>
        </p:spPr>
        <p:txBody>
          <a:bodyPr wrap="square">
            <a:spAutoFit/>
          </a:bodyPr>
          <a:lstStyle/>
          <a:p>
            <a:pPr>
              <a:defRPr sz="2200" b="1">
                <a:solidFill>
                  <a:srgbClr val="FFFFFF"/>
                </a:solidFill>
              </a:defRPr>
            </a:pPr>
            <a:r>
              <a:t>A Localized B2B Wholesale Marketplace Across Tamil Nadu's 38 Districts</a:t>
            </a:r>
          </a:p>
          <a:p>
            <a:pPr>
              <a:defRPr sz="1600" i="1">
                <a:solidFill>
                  <a:srgbClr val="D59A2B"/>
                </a:solidFill>
              </a:defRPr>
            </a:pPr>
            <a:r>
              <a:t>Because why travel 400 km to Sowcarpet when you have Python &amp; PostgreSQL?</a:t>
            </a:r>
          </a:p>
        </p:txBody>
      </p:sp>
      <p:sp>
        <p:nvSpPr>
          <p:cNvPr id="7" name="Rounded Rectangle 6"/>
          <p:cNvSpPr/>
          <p:nvPr/>
        </p:nvSpPr>
        <p:spPr>
          <a:xfrm>
            <a:off x="731520" y="4114800"/>
            <a:ext cx="2468880" cy="502920"/>
          </a:xfrm>
          <a:prstGeom prst="roundRect">
            <a:avLst/>
          </a:prstGeom>
          <a:solidFill>
            <a:srgbClr val="2D2A26"/>
          </a:solidFill>
          <a:ln>
            <a:solidFill>
              <a:srgbClr val="D5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defRPr>
            </a:pPr>
            <a:r>
              <a:t>✓ 38 Districts Filter</a:t>
            </a:r>
          </a:p>
        </p:txBody>
      </p:sp>
      <p:sp>
        <p:nvSpPr>
          <p:cNvPr id="8" name="Rounded Rectangle 7"/>
          <p:cNvSpPr/>
          <p:nvPr/>
        </p:nvSpPr>
        <p:spPr>
          <a:xfrm>
            <a:off x="3383280" y="4114800"/>
            <a:ext cx="2468880" cy="502920"/>
          </a:xfrm>
          <a:prstGeom prst="roundRect">
            <a:avLst/>
          </a:prstGeom>
          <a:solidFill>
            <a:srgbClr val="2D2A26"/>
          </a:solidFill>
          <a:ln>
            <a:solidFill>
              <a:srgbClr val="D5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defRPr>
            </a:pPr>
            <a:r>
              <a:t>✓ Zero Middlemen Commissions</a:t>
            </a:r>
          </a:p>
        </p:txBody>
      </p:sp>
      <p:sp>
        <p:nvSpPr>
          <p:cNvPr id="9" name="Rounded Rectangle 8"/>
          <p:cNvSpPr/>
          <p:nvPr/>
        </p:nvSpPr>
        <p:spPr>
          <a:xfrm>
            <a:off x="6035040" y="4114800"/>
            <a:ext cx="2468880" cy="502920"/>
          </a:xfrm>
          <a:prstGeom prst="roundRect">
            <a:avLst/>
          </a:prstGeom>
          <a:solidFill>
            <a:srgbClr val="2D2A26"/>
          </a:solidFill>
          <a:ln>
            <a:solidFill>
              <a:srgbClr val="D5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defRPr>
            </a:pPr>
            <a:r>
              <a:t>✓ Bulk Excel Uploads</a:t>
            </a:r>
          </a:p>
        </p:txBody>
      </p:sp>
      <p:sp>
        <p:nvSpPr>
          <p:cNvPr id="10" name="Rounded Rectangle 9"/>
          <p:cNvSpPr/>
          <p:nvPr/>
        </p:nvSpPr>
        <p:spPr>
          <a:xfrm>
            <a:off x="8686800" y="4114800"/>
            <a:ext cx="2468880" cy="502920"/>
          </a:xfrm>
          <a:prstGeom prst="roundRect">
            <a:avLst/>
          </a:prstGeom>
          <a:solidFill>
            <a:srgbClr val="2D2A26"/>
          </a:solidFill>
          <a:ln>
            <a:solidFill>
              <a:srgbClr val="D5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a:solidFill>
                  <a:srgbClr val="FFFFFF"/>
                </a:solidFill>
              </a:defRPr>
            </a:pPr>
            <a:r>
              <a:t>✓ Instant Phone Discovery</a:t>
            </a:r>
          </a:p>
        </p:txBody>
      </p:sp>
      <p:sp>
        <p:nvSpPr>
          <p:cNvPr id="11" name="Rounded Rectangle 10"/>
          <p:cNvSpPr/>
          <p:nvPr/>
        </p:nvSpPr>
        <p:spPr>
          <a:xfrm>
            <a:off x="731520" y="5029200"/>
            <a:ext cx="10698480" cy="1097280"/>
          </a:xfrm>
          <a:prstGeom prst="roundRect">
            <a:avLst/>
          </a:prstGeom>
          <a:solidFill>
            <a:srgbClr val="282420"/>
          </a:solidFill>
          <a:ln w="19050">
            <a:solidFill>
              <a:srgbClr val="3C3732"/>
            </a:solidFill>
          </a:ln>
        </p:spPr>
        <p:style>
          <a:lnRef idx="1">
            <a:schemeClr val="accent1"/>
          </a:lnRef>
          <a:fillRef idx="3">
            <a:schemeClr val="accent1"/>
          </a:fillRef>
          <a:effectRef idx="2">
            <a:schemeClr val="accent1"/>
          </a:effectRef>
          <a:fontRef idx="minor">
            <a:schemeClr val="lt1"/>
          </a:fontRef>
        </p:style>
        <p:txBody>
          <a:bodyPr rtlCol="0" anchor="ctr" lIns="274320" tIns="182880"/>
          <a:lstStyle/>
          <a:p>
            <a:pPr algn="ctr">
              <a:defRPr b="1" sz="1400">
                <a:solidFill>
                  <a:srgbClr val="FFFFFF"/>
                </a:solidFill>
              </a:defRPr>
            </a:pPr>
            <a:r>
              <a:t>Presenter: Saravanan | Final Year Project Presentation</a:t>
            </a:r>
          </a:p>
          <a:p>
            <a:pPr>
              <a:defRPr sz="1200">
                <a:solidFill>
                  <a:srgbClr val="D59A2B"/>
                </a:solidFill>
              </a:defRPr>
            </a:pPr>
            <a:r>
              <a:t>Stack: Python 3.11 • Django 5.x • PostgreSQL 18 • Celery • Valkey • Render Cloud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THE REAL-WORLD FRICTION</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The Ground Reality: How B2B Wholesale Works Today</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POV: You run a small grocery or electrical retail shop in Villupuram and need 50 bags of stock.</a:t>
            </a:r>
          </a:p>
        </p:txBody>
      </p:sp>
      <p:sp>
        <p:nvSpPr>
          <p:cNvPr id="6" name="Rounded Rectangle 5"/>
          <p:cNvSpPr/>
          <p:nvPr/>
        </p:nvSpPr>
        <p:spPr>
          <a:xfrm>
            <a:off x="731520" y="2011680"/>
            <a:ext cx="3383280" cy="329184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000" b="1">
                <a:solidFill>
                  <a:srgbClr val="A84331"/>
                </a:solidFill>
              </a:defRPr>
            </a:pPr>
            <a:r>
              <a:t>TRADITIONAL WAY</a:t>
            </a:r>
          </a:p>
          <a:p>
            <a:pPr>
              <a:defRPr sz="1600" b="1">
                <a:solidFill>
                  <a:srgbClr val="1E1B18"/>
                </a:solidFill>
              </a:defRPr>
            </a:pPr>
            <a:r>
              <a:t>Catch 4:30 AM Bus</a:t>
            </a:r>
          </a:p>
          <a:p>
            <a:pPr>
              <a:defRPr sz="1200">
                <a:solidFill>
                  <a:srgbClr val="1E1B18"/>
                </a:solidFill>
              </a:defRPr>
            </a:pPr>
            <a:r>
              <a:t>Lose 2 full shop days traveling to Chennai or Madurai.</a:t>
            </a:r>
            <a:br/>
            <a:r>
              <a:t>Fight bus crowd, carry cash bags, physically negotiate.</a:t>
            </a:r>
            <a:br/>
            <a:r>
              <a:t>Result: Exhausted, money lost, shop closed.</a:t>
            </a:r>
          </a:p>
        </p:txBody>
      </p:sp>
      <p:sp>
        <p:nvSpPr>
          <p:cNvPr id="7" name="Rounded Rectangle 6"/>
          <p:cNvSpPr/>
          <p:nvPr/>
        </p:nvSpPr>
        <p:spPr>
          <a:xfrm>
            <a:off x="4389120" y="2011680"/>
            <a:ext cx="3383280" cy="329184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000" b="1">
                <a:solidFill>
                  <a:srgbClr val="6D432A"/>
                </a:solidFill>
              </a:defRPr>
            </a:pPr>
            <a:r>
              <a:t>THE 'BIG TECH' GIANT</a:t>
            </a:r>
          </a:p>
          <a:p>
            <a:pPr>
              <a:defRPr sz="1600" b="1">
                <a:solidFill>
                  <a:srgbClr val="1E1B18"/>
                </a:solidFill>
              </a:defRPr>
            </a:pPr>
            <a:r>
              <a:t>IndiaMart Lead-gen Paywall</a:t>
            </a:r>
          </a:p>
          <a:p>
            <a:pPr>
              <a:defRPr sz="1200">
                <a:solidFill>
                  <a:srgbClr val="1E1B18"/>
                </a:solidFill>
              </a:defRPr>
            </a:pPr>
            <a:r>
              <a:t>"Pay ₹25,000 for Gold Membership to view supplier phone number!"</a:t>
            </a:r>
            <a:br/>
            <a:r>
              <a:t>Spam calls from 10 random brokers from other states.</a:t>
            </a:r>
            <a:br/>
            <a:r>
              <a:t>Result: Zero regional context, immense spam.</a:t>
            </a:r>
          </a:p>
        </p:txBody>
      </p:sp>
      <p:sp>
        <p:nvSpPr>
          <p:cNvPr id="8" name="Rounded Rectangle 7"/>
          <p:cNvSpPr/>
          <p:nvPr/>
        </p:nvSpPr>
        <p:spPr>
          <a:xfrm>
            <a:off x="8046720" y="2011680"/>
            <a:ext cx="3383280" cy="329184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000" b="1">
                <a:solidFill>
                  <a:srgbClr val="D59A2B"/>
                </a:solidFill>
              </a:defRPr>
            </a:pPr>
            <a:r>
              <a:t>THE 'FULL-STACK' APP</a:t>
            </a:r>
          </a:p>
          <a:p>
            <a:pPr>
              <a:defRPr sz="1600" b="1">
                <a:solidFill>
                  <a:srgbClr val="1E1B18"/>
                </a:solidFill>
              </a:defRPr>
            </a:pPr>
            <a:r>
              <a:t>Udaan Middleman Cuts</a:t>
            </a:r>
          </a:p>
          <a:p>
            <a:pPr>
              <a:defRPr sz="1200">
                <a:solidFill>
                  <a:srgbClr val="1E1B18"/>
                </a:solidFill>
              </a:defRPr>
            </a:pPr>
            <a:r>
              <a:t>Takes 8% to 15% commission per order.</a:t>
            </a:r>
            <a:br/>
            <a:r>
              <a:t>Controls pricing, enforces slow centralized shipping.</a:t>
            </a:r>
            <a:br/>
            <a:r>
              <a:t>Result: High costs, sellers get paid 20 days later.</a:t>
            </a:r>
          </a:p>
        </p:txBody>
      </p:sp>
      <p:sp>
        <p:nvSpPr>
          <p:cNvPr id="9" name="Rounded Rectangle 8"/>
          <p:cNvSpPr/>
          <p:nvPr/>
        </p:nvSpPr>
        <p:spPr>
          <a:xfrm>
            <a:off x="731520" y="5577840"/>
            <a:ext cx="10698480" cy="777240"/>
          </a:xfrm>
          <a:prstGeom prst="roundRect">
            <a:avLst/>
          </a:prstGeom>
          <a:solidFill>
            <a:srgbClr val="FDF7ED"/>
          </a:solidFill>
          <a:ln w="19050">
            <a:solidFill>
              <a:srgbClr val="D59A2B"/>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200" b="1">
                <a:solidFill>
                  <a:srgbClr val="6D432A"/>
                </a:solidFill>
              </a:defRPr>
            </a:pPr>
            <a:r>
              <a:t>💡 The Truth: Wholesale commerce in Tamil Nadu runs on direct trust, relationship, and phone calls. Hiding phone numbers behind paywalls is artificial friction!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THE INNOVATION</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Meet WholeSync: Direct B2B Commerce Digitized</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No paywalls. No transaction cuts. No algorithmic games. Just pure localized discovery.</a:t>
            </a:r>
          </a:p>
        </p:txBody>
      </p:sp>
      <p:sp>
        <p:nvSpPr>
          <p:cNvPr id="6" name="Rounded Rectangle 5"/>
          <p:cNvSpPr/>
          <p:nvPr/>
        </p:nvSpPr>
        <p:spPr>
          <a:xfrm>
            <a:off x="731520" y="2011680"/>
            <a:ext cx="3383280" cy="320040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100" b="1">
                <a:solidFill>
                  <a:srgbClr val="A84331"/>
                </a:solidFill>
              </a:defRPr>
            </a:pPr>
            <a:r>
              <a:t>ZERO MIDDLEMEN</a:t>
            </a:r>
          </a:p>
          <a:p>
            <a:pPr>
              <a:defRPr sz="1700" b="1">
                <a:solidFill>
                  <a:srgbClr val="1E1B18"/>
                </a:solidFill>
              </a:defRPr>
            </a:pPr>
            <a:r>
              <a:t>100% Direct Phone Access</a:t>
            </a:r>
          </a:p>
          <a:p>
            <a:pPr>
              <a:defRPr sz="1200">
                <a:solidFill>
                  <a:srgbClr val="1E1B18"/>
                </a:solidFill>
              </a:defRPr>
            </a:pPr>
            <a:r>
              <a:t>Retailers view verified wholesaler contact numbers instantly with one tap. Zero lead-gen fees, zero middleman cuts. Pure peer-to-peer negotiation.</a:t>
            </a:r>
          </a:p>
        </p:txBody>
      </p:sp>
      <p:sp>
        <p:nvSpPr>
          <p:cNvPr id="7" name="Rounded Rectangle 6"/>
          <p:cNvSpPr/>
          <p:nvPr/>
        </p:nvSpPr>
        <p:spPr>
          <a:xfrm>
            <a:off x="4389120" y="2011680"/>
            <a:ext cx="3383280" cy="320040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100" b="1">
                <a:solidFill>
                  <a:srgbClr val="D59A2B"/>
                </a:solidFill>
              </a:defRPr>
            </a:pPr>
            <a:r>
              <a:t>38 TN DISTRICTS</a:t>
            </a:r>
          </a:p>
          <a:p>
            <a:pPr>
              <a:defRPr sz="1700" b="1">
                <a:solidFill>
                  <a:srgbClr val="1E1B18"/>
                </a:solidFill>
              </a:defRPr>
            </a:pPr>
            <a:r>
              <a:t>Hyper-Local Geographic Search</a:t>
            </a:r>
          </a:p>
          <a:p>
            <a:pPr>
              <a:defRPr sz="1200">
                <a:solidFill>
                  <a:srgbClr val="1E1B18"/>
                </a:solidFill>
              </a:defRPr>
            </a:pPr>
            <a:r>
              <a:t>Find suppliers within your district or neighboring hubs (e.g., Villupuram to Salem or Trichy). Real-time filtering by all 38 revenue districts of Tamil Nadu.</a:t>
            </a:r>
          </a:p>
        </p:txBody>
      </p:sp>
      <p:sp>
        <p:nvSpPr>
          <p:cNvPr id="8" name="Rounded Rectangle 7"/>
          <p:cNvSpPr/>
          <p:nvPr/>
        </p:nvSpPr>
        <p:spPr>
          <a:xfrm>
            <a:off x="8046720" y="2011680"/>
            <a:ext cx="3383280" cy="320040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ctr">
              <a:defRPr sz="1100" b="1">
                <a:solidFill>
                  <a:srgbClr val="2E7D32"/>
                </a:solidFill>
              </a:defRPr>
            </a:pPr>
            <a:r>
              <a:t>INSTANT CATALOGING</a:t>
            </a:r>
          </a:p>
          <a:p>
            <a:pPr>
              <a:defRPr sz="1700" b="1">
                <a:solidFill>
                  <a:srgbClr val="1E1B18"/>
                </a:solidFill>
              </a:defRPr>
            </a:pPr>
            <a:r>
              <a:t>Bulk Excel Upload System</a:t>
            </a:r>
          </a:p>
          <a:p>
            <a:pPr>
              <a:defRPr sz="1200">
                <a:solidFill>
                  <a:srgbClr val="1E1B18"/>
                </a:solidFill>
              </a:defRPr>
            </a:pPr>
            <a:r>
              <a:t>Traditional wholesalers can upload 500+ products in seconds using simple .xlsx sheets. Automatic data parsing, column mapping, and database ingestion.</a:t>
            </a:r>
          </a:p>
        </p:txBody>
      </p:sp>
      <p:sp>
        <p:nvSpPr>
          <p:cNvPr id="9" name="Rounded Rectangle 8"/>
          <p:cNvSpPr/>
          <p:nvPr/>
        </p:nvSpPr>
        <p:spPr>
          <a:xfrm>
            <a:off x="731520" y="5486400"/>
            <a:ext cx="10698480" cy="914400"/>
          </a:xfrm>
          <a:prstGeom prst="roundRect">
            <a:avLst/>
          </a:prstGeom>
          <a:solidFill>
            <a:srgbClr val="1E1B18"/>
          </a:solidFill>
          <a:ln w="19050">
            <a:solidFill>
              <a:srgbClr val="A84331"/>
            </a:solidFill>
          </a:ln>
        </p:spPr>
        <p:style>
          <a:lnRef idx="1">
            <a:schemeClr val="accent1"/>
          </a:lnRef>
          <a:fillRef idx="3">
            <a:schemeClr val="accent1"/>
          </a:fillRef>
          <a:effectRef idx="2">
            <a:schemeClr val="accent1"/>
          </a:effectRef>
          <a:fontRef idx="minor">
            <a:schemeClr val="lt1"/>
          </a:fontRef>
        </p:style>
        <p:txBody>
          <a:bodyPr rtlCol="0" anchor="ctr" lIns="274320" tIns="164592"/>
          <a:lstStyle/>
          <a:p>
            <a:pPr algn="ctr">
              <a:defRPr b="1" sz="1400">
                <a:solidFill>
                  <a:srgbClr val="D59A2B"/>
                </a:solidFill>
              </a:defRPr>
            </a:pPr>
            <a:r>
              <a:t>Formula: WholeSync = (IndiaMart Directory + Google Search Speed) - (Paywalls + Commission + Spam)</a:t>
            </a:r>
          </a:p>
          <a:p>
            <a:pPr>
              <a:defRPr sz="1100">
                <a:solidFill>
                  <a:srgbClr val="FFFFFF"/>
                </a:solidFill>
              </a:defRPr>
            </a:pPr>
            <a:r>
              <a:t>Built with Python &amp; PostgreSQL to step out of the transaction path and let merchants do business freely.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TARGET USERS</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A Day in the Life: Who Actually Uses WholeSync?</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Engineered to fit the real workflows of Indian wholesale and retail merchants.</a:t>
            </a:r>
          </a:p>
        </p:txBody>
      </p:sp>
      <p:sp>
        <p:nvSpPr>
          <p:cNvPr id="6" name="Rounded Rectangle 5"/>
          <p:cNvSpPr/>
          <p:nvPr/>
        </p:nvSpPr>
        <p:spPr>
          <a:xfrm>
            <a:off x="731520" y="2011680"/>
            <a:ext cx="5212080" cy="429768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365760" rIns="365760" tIns="320040"/>
          <a:lstStyle/>
          <a:p>
            <a:pPr algn="ctr">
              <a:defRPr b="1" sz="1100">
                <a:solidFill>
                  <a:srgbClr val="A84331"/>
                </a:solidFill>
              </a:defRPr>
            </a:pPr>
            <a:r>
              <a:t>WHOLESALER / SUPPLIER</a:t>
            </a:r>
          </a:p>
          <a:p>
            <a:pPr>
              <a:defRPr b="1" sz="2000">
                <a:solidFill>
                  <a:srgbClr val="1E1B18"/>
                </a:solidFill>
              </a:defRPr>
            </a:pPr>
            <a:r>
              <a:t>Muthu Annachi (Madurai)</a:t>
            </a:r>
          </a:p>
          <a:p>
            <a:pPr>
              <a:defRPr sz="1200">
                <a:solidFill>
                  <a:srgbClr val="1E1B18"/>
                </a:solidFill>
              </a:defRPr>
            </a:pPr>
            <a:r>
              <a:t>• Godown Profile: 500+ bags of spices, dal, and grains.</a:t>
            </a:r>
            <a:br/>
            <a:r>
              <a:t>• Tech Barrier: Has zero time to type 500 products into an app one by one.</a:t>
            </a:r>
            <a:br/>
            <a:r>
              <a:t>• The Old Way: Keeps handwritten registers; waits for shopkeepers to visit.</a:t>
            </a:r>
            <a:br/>
            <a:r>
              <a:t>• WholeSync Superpower: Drags and drops his existing Excel stock sheet (.xlsx). In 3 seconds, all 500 products are indexed online with stock status!</a:t>
            </a:r>
          </a:p>
        </p:txBody>
      </p:sp>
      <p:sp>
        <p:nvSpPr>
          <p:cNvPr id="7" name="Rounded Rectangle 6"/>
          <p:cNvSpPr/>
          <p:nvPr/>
        </p:nvSpPr>
        <p:spPr>
          <a:xfrm>
            <a:off x="6217920" y="2011680"/>
            <a:ext cx="5212080" cy="429768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365760" rIns="365760" tIns="320040"/>
          <a:lstStyle/>
          <a:p>
            <a:pPr algn="ctr">
              <a:defRPr b="1" sz="1100">
                <a:solidFill>
                  <a:srgbClr val="D59A2B"/>
                </a:solidFill>
              </a:defRPr>
            </a:pPr>
            <a:r>
              <a:t>RETAILER / SHOPKEEPER</a:t>
            </a:r>
          </a:p>
          <a:p>
            <a:pPr>
              <a:defRPr b="1" sz="2000">
                <a:solidFill>
                  <a:srgbClr val="1E1B18"/>
                </a:solidFill>
              </a:defRPr>
            </a:pPr>
            <a:r>
              <a:t>Karthik (Tirunelveli)</a:t>
            </a:r>
          </a:p>
          <a:p>
            <a:pPr>
              <a:defRPr sz="1200">
                <a:solidFill>
                  <a:srgbClr val="1E1B18"/>
                </a:solidFill>
              </a:defRPr>
            </a:pPr>
            <a:r>
              <a:t>• Store Profile: Small town provision store catering to 200 families.</a:t>
            </a:r>
            <a:br/>
            <a:r>
              <a:t>• Pain Point: Local middlemen charge 15% markups; doesn't know direct source.</a:t>
            </a:r>
            <a:br/>
            <a:r>
              <a:t>• The Old Way: Travels 150 km to Madurai wholesale market once a month.</a:t>
            </a:r>
            <a:br/>
            <a:r>
              <a:t>• WholeSync Superpower: Opens WholeSync on mobile, filters by 'Madurai' or 'Tirunelveli', compares wholesale prices, and taps 'Call Wholesaler' directly!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PLATFORM CAPABILITIES</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Core Modules &amp; Engineering Features</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Purpose-built modules designed for speed, reliability, and security.</a:t>
            </a:r>
          </a:p>
        </p:txBody>
      </p:sp>
      <p:sp>
        <p:nvSpPr>
          <p:cNvPr id="6" name="Rounded Rectangle 5"/>
          <p:cNvSpPr/>
          <p:nvPr/>
        </p:nvSpPr>
        <p:spPr>
          <a:xfrm>
            <a:off x="731520" y="2011680"/>
            <a:ext cx="338328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400">
                <a:solidFill>
                  <a:srgbClr val="A84331"/>
                </a:solidFill>
              </a:defRPr>
            </a:pPr>
            <a:r>
              <a:t>● 38 Districts Geo-Engine</a:t>
            </a:r>
          </a:p>
          <a:p>
            <a:pPr>
              <a:defRPr sz="1100">
                <a:solidFill>
                  <a:srgbClr val="1E1B18"/>
                </a:solidFill>
              </a:defRPr>
            </a:pPr>
            <a:r>
              <a:t>Instant filtering across all 38 Tamil Nadu districts. Real-time search by district name, supplier name, or product category without page reloads.</a:t>
            </a:r>
          </a:p>
        </p:txBody>
      </p:sp>
      <p:sp>
        <p:nvSpPr>
          <p:cNvPr id="7" name="Rounded Rectangle 6"/>
          <p:cNvSpPr/>
          <p:nvPr/>
        </p:nvSpPr>
        <p:spPr>
          <a:xfrm>
            <a:off x="4389120" y="2011680"/>
            <a:ext cx="338328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400">
                <a:solidFill>
                  <a:srgbClr val="D59A2B"/>
                </a:solidFill>
              </a:defRPr>
            </a:pPr>
            <a:r>
              <a:t>● Excel Bulk Ingestion</a:t>
            </a:r>
          </a:p>
          <a:p>
            <a:pPr>
              <a:defRPr sz="1100">
                <a:solidFill>
                  <a:srgbClr val="1E1B18"/>
                </a:solidFill>
              </a:defRPr>
            </a:pPr>
            <a:r>
              <a:t>Automated .xlsx parsing engine with Pandas &amp; OpenPyXL. Performs row-by-row validation, datatype enforcement, and batch database insertion in &lt; 2 seconds.</a:t>
            </a:r>
          </a:p>
        </p:txBody>
      </p:sp>
      <p:sp>
        <p:nvSpPr>
          <p:cNvPr id="8" name="Rounded Rectangle 7"/>
          <p:cNvSpPr/>
          <p:nvPr/>
        </p:nvSpPr>
        <p:spPr>
          <a:xfrm>
            <a:off x="8046720" y="2011680"/>
            <a:ext cx="338328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400">
                <a:solidFill>
                  <a:srgbClr val="2E7D32"/>
                </a:solidFill>
              </a:defRPr>
            </a:pPr>
            <a:r>
              <a:t>● Dual Role RBAC Architecture</a:t>
            </a:r>
          </a:p>
          <a:p>
            <a:pPr>
              <a:defRPr sz="1100">
                <a:solidFill>
                  <a:srgbClr val="1E1B18"/>
                </a:solidFill>
              </a:defRPr>
            </a:pPr>
            <a:r>
              <a:t>Role-Based Access Control dividing Wholesalers (inventory managers, catalog creators) from Retailers (browsers, bookmarkers, contact discoverers).</a:t>
            </a:r>
          </a:p>
        </p:txBody>
      </p:sp>
      <p:sp>
        <p:nvSpPr>
          <p:cNvPr id="9" name="Rounded Rectangle 8"/>
          <p:cNvSpPr/>
          <p:nvPr/>
        </p:nvSpPr>
        <p:spPr>
          <a:xfrm>
            <a:off x="731520" y="4160520"/>
            <a:ext cx="338328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400">
                <a:solidFill>
                  <a:srgbClr val="6D432A"/>
                </a:solidFill>
              </a:defRPr>
            </a:pPr>
            <a:r>
              <a:t>● Async Email Verification</a:t>
            </a:r>
          </a:p>
          <a:p>
            <a:pPr>
              <a:defRPr sz="1100">
                <a:solidFill>
                  <a:srgbClr val="1E1B18"/>
                </a:solidFill>
              </a:defRPr>
            </a:pPr>
            <a:r>
              <a:t>High-deliverability user verification via Brevo API and Celery workers. Automatic fallback to synchronous dispatch if background worker is offline.</a:t>
            </a:r>
          </a:p>
        </p:txBody>
      </p:sp>
      <p:sp>
        <p:nvSpPr>
          <p:cNvPr id="10" name="Rounded Rectangle 9"/>
          <p:cNvSpPr/>
          <p:nvPr/>
        </p:nvSpPr>
        <p:spPr>
          <a:xfrm>
            <a:off x="4389120" y="4160520"/>
            <a:ext cx="338328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400">
                <a:solidFill>
                  <a:srgbClr val="A84331"/>
                </a:solidFill>
              </a:defRPr>
            </a:pPr>
            <a:r>
              <a:t>● Product Comparison &amp; Bookmarks</a:t>
            </a:r>
          </a:p>
          <a:p>
            <a:pPr>
              <a:defRPr sz="1100">
                <a:solidFill>
                  <a:srgbClr val="1E1B18"/>
                </a:solidFill>
              </a:defRPr>
            </a:pPr>
            <a:r>
              <a:t>Retailers can bookmark essential items for quick recurring reorders and side-by-side bulk price evaluation.</a:t>
            </a:r>
          </a:p>
        </p:txBody>
      </p:sp>
      <p:sp>
        <p:nvSpPr>
          <p:cNvPr id="11" name="Rounded Rectangle 10"/>
          <p:cNvSpPr/>
          <p:nvPr/>
        </p:nvSpPr>
        <p:spPr>
          <a:xfrm>
            <a:off x="8046720" y="4160520"/>
            <a:ext cx="338328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400">
                <a:solidFill>
                  <a:srgbClr val="D59A2B"/>
                </a:solidFill>
              </a:defRPr>
            </a:pPr>
            <a:r>
              <a:t>● Zero-Bloat Responsive UI</a:t>
            </a:r>
          </a:p>
          <a:p>
            <a:pPr>
              <a:defRPr sz="1100">
                <a:solidFill>
                  <a:srgbClr val="1E1B18"/>
                </a:solidFill>
              </a:defRPr>
            </a:pPr>
            <a:r>
              <a:t>Engineered in vanilla semantic HTML5 &amp; modern CSS. Zero heavy JavaScript frameworks (no 2MB React bundles) ensures instant loading on 3G rural networks.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TECHNOLOGY STACK</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FFFFFF"/>
                </a:solidFill>
              </a:defRPr>
            </a:pPr>
            <a:r>
              <a:t>Production-Grade Engineering Architecture</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C8C3BE"/>
                </a:solidFill>
              </a:defRPr>
            </a:pPr>
            <a:r>
              <a:t>Modern, scalable, open-source technologies built for cloud concurrency.</a:t>
            </a:r>
          </a:p>
        </p:txBody>
      </p:sp>
      <p:sp>
        <p:nvSpPr>
          <p:cNvPr id="6" name="Rounded Rectangle 5"/>
          <p:cNvSpPr/>
          <p:nvPr/>
        </p:nvSpPr>
        <p:spPr>
          <a:xfrm>
            <a:off x="731520" y="2011680"/>
            <a:ext cx="3383280" cy="19659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000">
                <a:solidFill>
                  <a:srgbClr val="A84331"/>
                </a:solidFill>
              </a:defRPr>
            </a:pPr>
            <a:r>
              <a:t>BACKEND FRAMEWORK</a:t>
            </a:r>
          </a:p>
          <a:p>
            <a:pPr>
              <a:defRPr b="1" sz="1500">
                <a:solidFill>
                  <a:srgbClr val="FFFFFF"/>
                </a:solidFill>
              </a:defRPr>
            </a:pPr>
            <a:r>
              <a:t>Python 3.11 &amp; Django 5.x</a:t>
            </a:r>
          </a:p>
          <a:p>
            <a:pPr>
              <a:defRPr sz="1050">
                <a:solidFill>
                  <a:srgbClr val="D2CDC8"/>
                </a:solidFill>
              </a:defRPr>
            </a:pPr>
            <a:r>
              <a:t>Batteries-included framework offering built-in ORM security, CSRF protection, and high-performance MVC architecture.</a:t>
            </a:r>
          </a:p>
        </p:txBody>
      </p:sp>
      <p:sp>
        <p:nvSpPr>
          <p:cNvPr id="7" name="Rounded Rectangle 6"/>
          <p:cNvSpPr/>
          <p:nvPr/>
        </p:nvSpPr>
        <p:spPr>
          <a:xfrm>
            <a:off x="4389120" y="2011680"/>
            <a:ext cx="3383280" cy="19659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000">
                <a:solidFill>
                  <a:srgbClr val="D59A2B"/>
                </a:solidFill>
              </a:defRPr>
            </a:pPr>
            <a:r>
              <a:t>RELATIONAL DATABASE</a:t>
            </a:r>
          </a:p>
          <a:p>
            <a:pPr>
              <a:defRPr b="1" sz="1500">
                <a:solidFill>
                  <a:srgbClr val="FFFFFF"/>
                </a:solidFill>
              </a:defRPr>
            </a:pPr>
            <a:r>
              <a:t>PostgreSQL 18</a:t>
            </a:r>
          </a:p>
          <a:p>
            <a:pPr>
              <a:defRPr sz="1050">
                <a:solidFill>
                  <a:srgbClr val="D2CDC8"/>
                </a:solidFill>
              </a:defRPr>
            </a:pPr>
            <a:r>
              <a:t>Enterprise-grade ACID compliance, relational integrity, B-Tree indexing on district &amp; category fields.</a:t>
            </a:r>
          </a:p>
        </p:txBody>
      </p:sp>
      <p:sp>
        <p:nvSpPr>
          <p:cNvPr id="8" name="Rounded Rectangle 7"/>
          <p:cNvSpPr/>
          <p:nvPr/>
        </p:nvSpPr>
        <p:spPr>
          <a:xfrm>
            <a:off x="8046720" y="2011680"/>
            <a:ext cx="3383280" cy="19659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000">
                <a:solidFill>
                  <a:srgbClr val="2E7D32"/>
                </a:solidFill>
              </a:defRPr>
            </a:pPr>
            <a:r>
              <a:t>BACKGROUND WORKER</a:t>
            </a:r>
          </a:p>
          <a:p>
            <a:pPr>
              <a:defRPr b="1" sz="1500">
                <a:solidFill>
                  <a:srgbClr val="FFFFFF"/>
                </a:solidFill>
              </a:defRPr>
            </a:pPr>
            <a:r>
              <a:t>Celery &amp; Valkey 8 (Redis)</a:t>
            </a:r>
          </a:p>
          <a:p>
            <a:pPr>
              <a:defRPr sz="1050">
                <a:solidFill>
                  <a:srgbClr val="D2CDC8"/>
                </a:solidFill>
              </a:defRPr>
            </a:pPr>
            <a:r>
              <a:t>Asynchronous task queue for offloading heavy tasks (email delivery, bulk parsing) without freezing HTTP requests.</a:t>
            </a:r>
          </a:p>
        </p:txBody>
      </p:sp>
      <p:sp>
        <p:nvSpPr>
          <p:cNvPr id="9" name="Rounded Rectangle 8"/>
          <p:cNvSpPr/>
          <p:nvPr/>
        </p:nvSpPr>
        <p:spPr>
          <a:xfrm>
            <a:off x="731520" y="4160520"/>
            <a:ext cx="3383280" cy="19659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000">
                <a:solidFill>
                  <a:srgbClr val="D59A2B"/>
                </a:solidFill>
              </a:defRPr>
            </a:pPr>
            <a:r>
              <a:t>PRODUCTION SERVER</a:t>
            </a:r>
          </a:p>
          <a:p>
            <a:pPr>
              <a:defRPr b="1" sz="1500">
                <a:solidFill>
                  <a:srgbClr val="FFFFFF"/>
                </a:solidFill>
              </a:defRPr>
            </a:pPr>
            <a:r>
              <a:t>Gunicorn WSGI</a:t>
            </a:r>
          </a:p>
          <a:p>
            <a:pPr>
              <a:defRPr sz="1050">
                <a:solidFill>
                  <a:srgbClr val="D2CDC8"/>
                </a:solidFill>
              </a:defRPr>
            </a:pPr>
            <a:r>
              <a:t>Concurrent multi-worker HTTP server handling simultaneous requests with minimal memory overhead.</a:t>
            </a:r>
          </a:p>
        </p:txBody>
      </p:sp>
      <p:sp>
        <p:nvSpPr>
          <p:cNvPr id="10" name="Rounded Rectangle 9"/>
          <p:cNvSpPr/>
          <p:nvPr/>
        </p:nvSpPr>
        <p:spPr>
          <a:xfrm>
            <a:off x="4389120" y="4160520"/>
            <a:ext cx="3383280" cy="19659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000">
                <a:solidFill>
                  <a:srgbClr val="A84331"/>
                </a:solidFill>
              </a:defRPr>
            </a:pPr>
            <a:r>
              <a:t>TRANSACTIONAL EMAIL</a:t>
            </a:r>
          </a:p>
          <a:p>
            <a:pPr>
              <a:defRPr b="1" sz="1500">
                <a:solidFill>
                  <a:srgbClr val="FFFFFF"/>
                </a:solidFill>
              </a:defRPr>
            </a:pPr>
            <a:r>
              <a:t>Brevo API via django-anymail</a:t>
            </a:r>
          </a:p>
          <a:p>
            <a:pPr>
              <a:defRPr sz="1050">
                <a:solidFill>
                  <a:srgbClr val="D2CDC8"/>
                </a:solidFill>
              </a:defRPr>
            </a:pPr>
            <a:r>
              <a:t>High-reputation SMTP/REST API ensuring verification emails land directly in the user's primary inbox.</a:t>
            </a:r>
          </a:p>
        </p:txBody>
      </p:sp>
      <p:sp>
        <p:nvSpPr>
          <p:cNvPr id="11" name="Rounded Rectangle 10"/>
          <p:cNvSpPr/>
          <p:nvPr/>
        </p:nvSpPr>
        <p:spPr>
          <a:xfrm>
            <a:off x="8046720" y="4160520"/>
            <a:ext cx="3383280" cy="19659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a:lstStyle/>
          <a:p>
            <a:pPr algn="ctr">
              <a:defRPr b="1" sz="1000">
                <a:solidFill>
                  <a:srgbClr val="2E7D32"/>
                </a:solidFill>
              </a:defRPr>
            </a:pPr>
            <a:r>
              <a:t>CLOUD INFRASTRUCTURE</a:t>
            </a:r>
          </a:p>
          <a:p>
            <a:pPr>
              <a:defRPr b="1" sz="1500">
                <a:solidFill>
                  <a:srgbClr val="FFFFFF"/>
                </a:solidFill>
              </a:defRPr>
            </a:pPr>
            <a:r>
              <a:t>Render Cloud &amp; WhiteNoise</a:t>
            </a:r>
          </a:p>
          <a:p>
            <a:pPr>
              <a:defRPr sz="1050">
                <a:solidFill>
                  <a:srgbClr val="D2CDC8"/>
                </a:solidFill>
              </a:defRPr>
            </a:pPr>
            <a:r>
              <a:t>Continuous automated Git deployment with gzip static asset compression and SSL termination.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SYSTEM ARCHITECTURE</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Request Lifecycle &amp; Concurrency Pipeline</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How data flows securely from user click to database and background workers.</a:t>
            </a:r>
          </a:p>
        </p:txBody>
      </p:sp>
      <p:sp>
        <p:nvSpPr>
          <p:cNvPr id="6" name="Rounded Rectangle 5"/>
          <p:cNvSpPr/>
          <p:nvPr/>
        </p:nvSpPr>
        <p:spPr>
          <a:xfrm>
            <a:off x="731520" y="2103120"/>
            <a:ext cx="3291840" cy="3108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200">
                <a:solidFill>
                  <a:srgbClr val="A84331"/>
                </a:solidFill>
              </a:defRPr>
            </a:pPr>
            <a:r>
              <a:t>1. INCOMING REQUEST</a:t>
            </a:r>
          </a:p>
          <a:p>
            <a:pPr>
              <a:defRPr b="1" sz="1600">
                <a:solidFill>
                  <a:srgbClr val="1E1B18"/>
                </a:solidFill>
              </a:defRPr>
            </a:pPr>
            <a:r>
              <a:t>Client Browser / Mobile</a:t>
            </a:r>
          </a:p>
          <a:p>
            <a:pPr>
              <a:defRPr sz="1100">
                <a:solidFill>
                  <a:srgbClr val="1E1B18"/>
                </a:solidFill>
              </a:defRPr>
            </a:pPr>
            <a:r>
              <a:t>• HTTPS via Cloudflare/Render</a:t>
            </a:r>
            <a:br/>
            <a:r>
              <a:t>• Reverse proxy load balancer</a:t>
            </a:r>
            <a:br/>
            <a:r>
              <a:t>• Gunicorn WSGI master worker</a:t>
            </a:r>
            <a:br/>
            <a:r>
              <a:t>• Request routing to Django URLconf</a:t>
            </a:r>
            <a:br/>
            <a:r>
              <a:t>• Rate-limit middleware check</a:t>
            </a:r>
          </a:p>
        </p:txBody>
      </p:sp>
      <p:sp>
        <p:nvSpPr>
          <p:cNvPr id="7" name="Rounded Rectangle 6"/>
          <p:cNvSpPr/>
          <p:nvPr/>
        </p:nvSpPr>
        <p:spPr>
          <a:xfrm>
            <a:off x="4389120" y="2103120"/>
            <a:ext cx="3291840" cy="3108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200">
                <a:solidFill>
                  <a:srgbClr val="D59A2B"/>
                </a:solidFill>
              </a:defRPr>
            </a:pPr>
            <a:r>
              <a:t>2. DJANGO BACKEND</a:t>
            </a:r>
          </a:p>
          <a:p>
            <a:pPr>
              <a:defRPr b="1" sz="1600">
                <a:solidFill>
                  <a:srgbClr val="1E1B18"/>
                </a:solidFill>
              </a:defRPr>
            </a:pPr>
            <a:r>
              <a:t>Core Processing Unit</a:t>
            </a:r>
          </a:p>
          <a:p>
            <a:pPr>
              <a:defRPr sz="1100">
                <a:solidFill>
                  <a:srgbClr val="1E1B18"/>
                </a:solidFill>
              </a:defRPr>
            </a:pPr>
            <a:r>
              <a:t>• Authentication &amp; Session auth</a:t>
            </a:r>
            <a:br/>
            <a:r>
              <a:t>• Query optimization with select_related</a:t>
            </a:r>
            <a:br/>
            <a:r>
              <a:t>• District aggregator &amp; search index</a:t>
            </a:r>
            <a:br/>
            <a:r>
              <a:t>• Parameterized PostgreSQL queries</a:t>
            </a:r>
            <a:br/>
            <a:r>
              <a:t>• Submits async tasks to broker</a:t>
            </a:r>
          </a:p>
        </p:txBody>
      </p:sp>
      <p:sp>
        <p:nvSpPr>
          <p:cNvPr id="8" name="Rounded Rectangle 7"/>
          <p:cNvSpPr/>
          <p:nvPr/>
        </p:nvSpPr>
        <p:spPr>
          <a:xfrm>
            <a:off x="8046720" y="2103120"/>
            <a:ext cx="3383280" cy="3108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b="1" sz="1200">
                <a:solidFill>
                  <a:srgbClr val="2E7D32"/>
                </a:solidFill>
              </a:defRPr>
            </a:pPr>
            <a:r>
              <a:t>3. DATA &amp; WORKERS</a:t>
            </a:r>
          </a:p>
          <a:p>
            <a:pPr>
              <a:defRPr b="1" sz="1600">
                <a:solidFill>
                  <a:srgbClr val="1E1B18"/>
                </a:solidFill>
              </a:defRPr>
            </a:pPr>
            <a:r>
              <a:t>Storage &amp; Celery Queue</a:t>
            </a:r>
          </a:p>
          <a:p>
            <a:pPr>
              <a:defRPr sz="1100">
                <a:solidFill>
                  <a:srgbClr val="1E1B18"/>
                </a:solidFill>
              </a:defRPr>
            </a:pPr>
            <a:r>
              <a:t>• PostgreSQL 18 relational storage</a:t>
            </a:r>
            <a:br/>
            <a:r>
              <a:t>• Valkey (Redis) message broker</a:t>
            </a:r>
            <a:br/>
            <a:r>
              <a:t>• Celery background worker</a:t>
            </a:r>
            <a:br/>
            <a:r>
              <a:t>• Brevo Transactional Email API</a:t>
            </a:r>
            <a:br/>
            <a:r>
              <a:t>• Auto-fallback if Redis is down!</a:t>
            </a:r>
          </a:p>
        </p:txBody>
      </p:sp>
      <p:sp>
        <p:nvSpPr>
          <p:cNvPr id="9" name="Rounded Rectangle 8"/>
          <p:cNvSpPr/>
          <p:nvPr/>
        </p:nvSpPr>
        <p:spPr>
          <a:xfrm>
            <a:off x="731520" y="5394960"/>
            <a:ext cx="10698480" cy="1005840"/>
          </a:xfrm>
          <a:prstGeom prst="roundRect">
            <a:avLst/>
          </a:prstGeom>
          <a:solidFill>
            <a:srgbClr val="FDF1EF"/>
          </a:solidFill>
          <a:ln w="19050">
            <a:solidFill>
              <a:srgbClr val="A84331"/>
            </a:solidFill>
          </a:ln>
        </p:spPr>
        <p:style>
          <a:lnRef idx="1">
            <a:schemeClr val="accent1"/>
          </a:lnRef>
          <a:fillRef idx="3">
            <a:schemeClr val="accent1"/>
          </a:fillRef>
          <a:effectRef idx="2">
            <a:schemeClr val="accent1"/>
          </a:effectRef>
          <a:fontRef idx="minor">
            <a:schemeClr val="lt1"/>
          </a:fontRef>
        </p:style>
        <p:txBody>
          <a:bodyPr rtlCol="0" anchor="ctr" lIns="274320" tIns="164592"/>
          <a:lstStyle/>
          <a:p>
            <a:pPr algn="ctr">
              <a:defRPr b="1" sz="1200">
                <a:solidFill>
                  <a:srgbClr val="A84331"/>
                </a:solidFill>
              </a:defRPr>
            </a:pPr>
            <a:r>
              <a:t>⚡ Engineering Highlight: Why Asynchronous Queueing?</a:t>
            </a:r>
          </a:p>
          <a:p>
            <a:pPr>
              <a:defRPr sz="1100">
                <a:solidFill>
                  <a:srgbClr val="1E1B18"/>
                </a:solidFill>
              </a:defRPr>
            </a:pPr>
            <a:r>
              <a:t>Sending an email via external SMTP takes 2,000ms - 4,000ms. If synchronous, the user sits staring at a frozen browser. With Celery, Django dispatches the task in 3ms and immediately returns HTTP 200 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SECURITY ENGINEERING</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Production Security: We Don't Compromise</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Hardened against the OWASP Top 10 web vulnerabilities.</a:t>
            </a:r>
          </a:p>
        </p:txBody>
      </p:sp>
      <p:sp>
        <p:nvSpPr>
          <p:cNvPr id="6" name="Rounded Rectangle 5"/>
          <p:cNvSpPr/>
          <p:nvPr/>
        </p:nvSpPr>
        <p:spPr>
          <a:xfrm>
            <a:off x="731520" y="201168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A84331"/>
                </a:solidFill>
              </a:defRPr>
            </a:pPr>
            <a:r>
              <a:t>OWASP A01: BROKEN ACCESS CONTROL</a:t>
            </a:r>
          </a:p>
          <a:p>
            <a:pPr>
              <a:defRPr b="1" sz="1500">
                <a:solidFill>
                  <a:srgbClr val="1E1B18"/>
                </a:solidFill>
              </a:defRPr>
            </a:pPr>
            <a:r>
              <a:t>Dual Role Access Control (RBAC)</a:t>
            </a:r>
          </a:p>
          <a:p>
            <a:pPr>
              <a:defRPr sz="1100">
                <a:solidFill>
                  <a:srgbClr val="1E1B18"/>
                </a:solidFill>
              </a:defRPr>
            </a:pPr>
            <a:r>
              <a:t>Wholesaler operations (bulk upload, item deletion, stock changes) are strictly guarded by @wholesaler_required decorators. Retailers cannot manipulate supplier catalogs.</a:t>
            </a:r>
          </a:p>
        </p:txBody>
      </p:sp>
      <p:sp>
        <p:nvSpPr>
          <p:cNvPr id="7" name="Rounded Rectangle 6"/>
          <p:cNvSpPr/>
          <p:nvPr/>
        </p:nvSpPr>
        <p:spPr>
          <a:xfrm>
            <a:off x="6126480" y="201168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D59A2B"/>
                </a:solidFill>
              </a:defRPr>
            </a:pPr>
            <a:r>
              <a:t>OWASP A03: INJECTION</a:t>
            </a:r>
          </a:p>
          <a:p>
            <a:pPr>
              <a:defRPr b="1" sz="1500">
                <a:solidFill>
                  <a:srgbClr val="1E1B18"/>
                </a:solidFill>
              </a:defRPr>
            </a:pPr>
            <a:r>
              <a:t>100% Parameterized ORM Queries</a:t>
            </a:r>
          </a:p>
          <a:p>
            <a:pPr>
              <a:defRPr sz="1100">
                <a:solidFill>
                  <a:srgbClr val="1E1B18"/>
                </a:solidFill>
              </a:defRPr>
            </a:pPr>
            <a:r>
              <a:t>Zero raw SQL concatenations. Every database query uses Django's compiled ORM with automatic parameter binding, making SQL injection mathematically impossible.</a:t>
            </a:r>
          </a:p>
        </p:txBody>
      </p:sp>
      <p:sp>
        <p:nvSpPr>
          <p:cNvPr id="8" name="Rounded Rectangle 7"/>
          <p:cNvSpPr/>
          <p:nvPr/>
        </p:nvSpPr>
        <p:spPr>
          <a:xfrm>
            <a:off x="731520" y="416052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2E7D32"/>
                </a:solidFill>
              </a:defRPr>
            </a:pPr>
            <a:r>
              <a:t>OWASP A07: AUTH FAILURES</a:t>
            </a:r>
          </a:p>
          <a:p>
            <a:pPr>
              <a:defRPr b="1" sz="1500">
                <a:solidFill>
                  <a:srgbClr val="1E1B18"/>
                </a:solidFill>
              </a:defRPr>
            </a:pPr>
            <a:r>
              <a:t>PBKDF2-SHA256 &amp; Rate Limiting</a:t>
            </a:r>
          </a:p>
          <a:p>
            <a:pPr>
              <a:defRPr sz="1100">
                <a:solidFill>
                  <a:srgbClr val="1E1B18"/>
                </a:solidFill>
              </a:defRPr>
            </a:pPr>
            <a:r>
              <a:t>Passwords are salted and hashed using PBKDF2 with 720,000 iterations. Login and register endpoints are rate-limited via django-ratelimit to prevent brute-force attacks.</a:t>
            </a:r>
          </a:p>
        </p:txBody>
      </p:sp>
      <p:sp>
        <p:nvSpPr>
          <p:cNvPr id="9" name="Rounded Rectangle 8"/>
          <p:cNvSpPr/>
          <p:nvPr/>
        </p:nvSpPr>
        <p:spPr>
          <a:xfrm>
            <a:off x="6126480" y="416052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6D432A"/>
                </a:solidFill>
              </a:defRPr>
            </a:pPr>
            <a:r>
              <a:t>OWASP A02: CRYPTOGRAPHIC FAILURES</a:t>
            </a:r>
          </a:p>
          <a:p>
            <a:pPr>
              <a:defRPr b="1" sz="1500">
                <a:solidFill>
                  <a:srgbClr val="1E1B18"/>
                </a:solidFill>
              </a:defRPr>
            </a:pPr>
            <a:r>
              <a:t>HMAC Verification Tokens</a:t>
            </a:r>
          </a:p>
          <a:p>
            <a:pPr>
              <a:defRPr sz="1100">
                <a:solidFill>
                  <a:srgbClr val="1E1B18"/>
                </a:solidFill>
              </a:defRPr>
            </a:pPr>
            <a:r>
              <a:t>Email verification tokens are time-bound (24h validity) using cryptographic SHA-256 HMAC signatures. Expired or forged tokens are automatically rejected.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QUALITY ASSURANCE</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FFFFFF"/>
                </a:solidFill>
              </a:defRPr>
            </a:pPr>
            <a:r>
              <a:t>Testing: 26/26 Automated Tests Passing</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C8C3BE"/>
                </a:solidFill>
              </a:defRPr>
            </a:pPr>
            <a:r>
              <a:t>Because 'It worked on my localhost' is not an acceptable engineering answer.</a:t>
            </a:r>
          </a:p>
        </p:txBody>
      </p:sp>
      <p:sp>
        <p:nvSpPr>
          <p:cNvPr id="6" name="Rounded Rectangle 5"/>
          <p:cNvSpPr/>
          <p:nvPr/>
        </p:nvSpPr>
        <p:spPr>
          <a:xfrm>
            <a:off x="731520" y="2011680"/>
            <a:ext cx="3291840" cy="4114800"/>
          </a:xfrm>
          <a:prstGeom prst="roundRect">
            <a:avLst/>
          </a:prstGeom>
          <a:solidFill>
            <a:srgbClr val="2A2622"/>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lIns="274320" tIns="365760"/>
          <a:lstStyle/>
          <a:p>
            <a:pPr algn="ctr">
              <a:defRPr b="1" sz="1200">
                <a:solidFill>
                  <a:srgbClr val="2E7D32"/>
                </a:solidFill>
              </a:defRPr>
            </a:pPr>
            <a:r>
              <a:t>TEST METRICS</a:t>
            </a:r>
          </a:p>
          <a:p>
            <a:pPr>
              <a:defRPr b="1" sz="4800">
                <a:solidFill>
                  <a:srgbClr val="FFFFFF"/>
                </a:solidFill>
              </a:defRPr>
            </a:pPr>
            <a:r>
              <a:t>26 / 26</a:t>
            </a:r>
          </a:p>
          <a:p>
            <a:pPr>
              <a:defRPr sz="1300">
                <a:solidFill>
                  <a:srgbClr val="D59A2B"/>
                </a:solidFill>
              </a:defRPr>
            </a:pPr>
            <a:r>
              <a:t>Automated Unit &amp; Integration Tests Passing (100%)</a:t>
            </a:r>
          </a:p>
          <a:p>
            <a:br/>
            <a:pPr>
              <a:defRPr sz="1200">
                <a:solidFill>
                  <a:srgbClr val="C8C3BE"/>
                </a:solidFill>
              </a:defRPr>
            </a:pPr>
            <a:r>
              <a:t>• Execution Time: ~12s</a:t>
            </a:r>
            <a:br/>
            <a:r>
              <a:t>• Zero Broken Migrations</a:t>
            </a:r>
            <a:br/>
            <a:r>
              <a:t>• Test DB: In-Memory PostgreSQL</a:t>
            </a:r>
            <a:br/>
            <a:r>
              <a:t>• CI/CD Ready</a:t>
            </a:r>
          </a:p>
        </p:txBody>
      </p:sp>
      <p:sp>
        <p:nvSpPr>
          <p:cNvPr id="7" name="Rounded Rectangle 6"/>
          <p:cNvSpPr/>
          <p:nvPr/>
        </p:nvSpPr>
        <p:spPr>
          <a:xfrm>
            <a:off x="4389120" y="2011680"/>
            <a:ext cx="7040880" cy="96012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09728"/>
          <a:lstStyle/>
          <a:p>
            <a:pPr algn="ctr">
              <a:defRPr b="1" sz="1300">
                <a:solidFill>
                  <a:srgbClr val="A84331"/>
                </a:solidFill>
              </a:defRPr>
            </a:pPr>
            <a:r>
              <a:t>✓ Authentication &amp; Verification Suite</a:t>
            </a:r>
          </a:p>
          <a:p>
            <a:pPr>
              <a:defRPr sz="1050">
                <a:solidFill>
                  <a:srgbClr val="D2CDC8"/>
                </a:solidFill>
              </a:defRPr>
            </a:pPr>
            <a:r>
              <a:t>Tests user registration, unverified login blocking, HMAC token validity, 24-hour expiration timeout, and password validation rules.</a:t>
            </a:r>
          </a:p>
        </p:txBody>
      </p:sp>
      <p:sp>
        <p:nvSpPr>
          <p:cNvPr id="8" name="Rounded Rectangle 7"/>
          <p:cNvSpPr/>
          <p:nvPr/>
        </p:nvSpPr>
        <p:spPr>
          <a:xfrm>
            <a:off x="4389120" y="3063240"/>
            <a:ext cx="7040880" cy="96012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09728"/>
          <a:lstStyle/>
          <a:p>
            <a:pPr algn="ctr">
              <a:defRPr b="1" sz="1300">
                <a:solidFill>
                  <a:srgbClr val="D59A2B"/>
                </a:solidFill>
              </a:defRPr>
            </a:pPr>
            <a:r>
              <a:t>✓ RBAC &amp; Role Isolation Suite</a:t>
            </a:r>
          </a:p>
          <a:p>
            <a:pPr>
              <a:defRPr sz="1050">
                <a:solidFill>
                  <a:srgbClr val="D2CDC8"/>
                </a:solidFill>
              </a:defRPr>
            </a:pPr>
            <a:r>
              <a:t>Verifies wholesalers cannot view retailer bookmarks and retailers cannot access inventory upload or product deletion endpoints.</a:t>
            </a:r>
          </a:p>
        </p:txBody>
      </p:sp>
      <p:sp>
        <p:nvSpPr>
          <p:cNvPr id="9" name="Rounded Rectangle 8"/>
          <p:cNvSpPr/>
          <p:nvPr/>
        </p:nvSpPr>
        <p:spPr>
          <a:xfrm>
            <a:off x="4389120" y="4114800"/>
            <a:ext cx="7040880" cy="96012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09728"/>
          <a:lstStyle/>
          <a:p>
            <a:pPr algn="ctr">
              <a:defRPr b="1" sz="1300">
                <a:solidFill>
                  <a:srgbClr val="2E7D32"/>
                </a:solidFill>
              </a:defRPr>
            </a:pPr>
            <a:r>
              <a:t>✓ Excel Ingestion &amp; Validation Suite</a:t>
            </a:r>
          </a:p>
          <a:p>
            <a:pPr>
              <a:defRPr sz="1050">
                <a:solidFill>
                  <a:srgbClr val="D2CDC8"/>
                </a:solidFill>
              </a:defRPr>
            </a:pPr>
            <a:r>
              <a:t>Tests valid Excel files, missing column detection, row formatting errors, and bulk transaction rollback upon failure.</a:t>
            </a:r>
          </a:p>
        </p:txBody>
      </p:sp>
      <p:sp>
        <p:nvSpPr>
          <p:cNvPr id="10" name="Rounded Rectangle 9"/>
          <p:cNvSpPr/>
          <p:nvPr/>
        </p:nvSpPr>
        <p:spPr>
          <a:xfrm>
            <a:off x="4389120" y="5166360"/>
            <a:ext cx="7040880" cy="96012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28600" rIns="228600" tIns="109728"/>
          <a:lstStyle/>
          <a:p>
            <a:pPr algn="ctr">
              <a:defRPr b="1" sz="1300">
                <a:solidFill>
                  <a:srgbClr val="D59A2B"/>
                </a:solidFill>
              </a:defRPr>
            </a:pPr>
            <a:r>
              <a:t>✓ Celery Worker Resilience Suite</a:t>
            </a:r>
          </a:p>
          <a:p>
            <a:pPr>
              <a:defRPr sz="1050">
                <a:solidFill>
                  <a:srgbClr val="D2CDC8"/>
                </a:solidFill>
              </a:defRPr>
            </a:pPr>
            <a:r>
              <a:t>Validates that when Valkey/Redis is unreachable, the system automatically falls back to synchronous email dispatch with zero lost messages.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MARKET ADVANTAGE</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WholeSync vs. Existing Giants</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Why regional Tamil Nadu B2B commerce needs its own dedicated platform.</a:t>
            </a:r>
          </a:p>
        </p:txBody>
      </p:sp>
      <p:graphicFrame>
        <p:nvGraphicFramePr>
          <p:cNvPr id="6" name="Table 5"/>
          <p:cNvGraphicFramePr>
            <a:graphicFrameLocks noGrp="1"/>
          </p:cNvGraphicFramePr>
          <p:nvPr/>
        </p:nvGraphicFramePr>
        <p:xfrm>
          <a:off x="731520" y="2011680"/>
          <a:ext cx="10698480" cy="4114800"/>
        </p:xfrm>
        <a:graphic>
          <a:graphicData uri="http://schemas.openxmlformats.org/drawingml/2006/table">
            <a:tbl>
              <a:tblPr firstRow="1" bandRow="1">
                <a:tableStyleId>{5C22544A-7EE6-4342-B048-85BDC9FD1C3A}</a:tableStyleId>
              </a:tblPr>
              <a:tblGrid>
                <a:gridCol w="2468880"/>
                <a:gridCol w="2743200"/>
                <a:gridCol w="2743200"/>
                <a:gridCol w="2743200"/>
              </a:tblGrid>
              <a:tr h="685800">
                <a:tc>
                  <a:txBody>
                    <a:bodyPr/>
                    <a:lstStyle/>
                    <a:p>
                      <a:pPr>
                        <a:defRPr sz="1300" b="1">
                          <a:solidFill>
                            <a:srgbClr val="FFFFFF"/>
                          </a:solidFill>
                        </a:defRPr>
                      </a:pPr>
                      <a:r>
                        <a:t>Feature / Metric</a:t>
                      </a:r>
                    </a:p>
                  </a:txBody>
                  <a:tcPr>
                    <a:solidFill>
                      <a:srgbClr val="1E1B18"/>
                    </a:solidFill>
                  </a:tcPr>
                </a:tc>
                <a:tc>
                  <a:txBody>
                    <a:bodyPr/>
                    <a:lstStyle/>
                    <a:p>
                      <a:pPr>
                        <a:defRPr sz="1300" b="1">
                          <a:solidFill>
                            <a:srgbClr val="FFFFFF"/>
                          </a:solidFill>
                        </a:defRPr>
                      </a:pPr>
                      <a:r>
                        <a:t>IndiaMart</a:t>
                      </a:r>
                    </a:p>
                  </a:txBody>
                  <a:tcPr>
                    <a:solidFill>
                      <a:srgbClr val="1E1B18"/>
                    </a:solidFill>
                  </a:tcPr>
                </a:tc>
                <a:tc>
                  <a:txBody>
                    <a:bodyPr/>
                    <a:lstStyle/>
                    <a:p>
                      <a:pPr>
                        <a:defRPr sz="1300" b="1">
                          <a:solidFill>
                            <a:srgbClr val="FFFFFF"/>
                          </a:solidFill>
                        </a:defRPr>
                      </a:pPr>
                      <a:r>
                        <a:t>Udaan</a:t>
                      </a:r>
                    </a:p>
                  </a:txBody>
                  <a:tcPr>
                    <a:solidFill>
                      <a:srgbClr val="1E1B18"/>
                    </a:solidFill>
                  </a:tcPr>
                </a:tc>
                <a:tc>
                  <a:txBody>
                    <a:bodyPr/>
                    <a:lstStyle/>
                    <a:p>
                      <a:pPr>
                        <a:defRPr sz="1300" b="1">
                          <a:solidFill>
                            <a:srgbClr val="D59A2B"/>
                          </a:solidFill>
                        </a:defRPr>
                      </a:pPr>
                      <a:r>
                        <a:t>WholeSync (Ours)</a:t>
                      </a:r>
                    </a:p>
                  </a:txBody>
                  <a:tcPr>
                    <a:solidFill>
                      <a:srgbClr val="1E1B18"/>
                    </a:solidFill>
                  </a:tcPr>
                </a:tc>
              </a:tr>
              <a:tr h="685800">
                <a:tc>
                  <a:txBody>
                    <a:bodyPr/>
                    <a:lstStyle/>
                    <a:p>
                      <a:pPr>
                        <a:defRPr sz="1200" b="0">
                          <a:solidFill>
                            <a:srgbClr val="1E1B18"/>
                          </a:solidFill>
                        </a:defRPr>
                      </a:pPr>
                      <a:r>
                        <a:t>Commission on Sales</a:t>
                      </a:r>
                    </a:p>
                  </a:txBody>
                  <a:tcPr>
                    <a:solidFill>
                      <a:srgbClr val="FFFFFF"/>
                    </a:solidFill>
                  </a:tcPr>
                </a:tc>
                <a:tc>
                  <a:txBody>
                    <a:bodyPr/>
                    <a:lstStyle/>
                    <a:p>
                      <a:pPr>
                        <a:defRPr sz="1200" b="0">
                          <a:solidFill>
                            <a:srgbClr val="1E1B18"/>
                          </a:solidFill>
                        </a:defRPr>
                      </a:pPr>
                      <a:r>
                        <a:t>High Lead Fees (₹25k+/yr)</a:t>
                      </a:r>
                    </a:p>
                  </a:txBody>
                  <a:tcPr>
                    <a:solidFill>
                      <a:srgbClr val="FFFFFF"/>
                    </a:solidFill>
                  </a:tcPr>
                </a:tc>
                <a:tc>
                  <a:txBody>
                    <a:bodyPr/>
                    <a:lstStyle/>
                    <a:p>
                      <a:pPr>
                        <a:defRPr sz="1200" b="0">
                          <a:solidFill>
                            <a:srgbClr val="1E1B18"/>
                          </a:solidFill>
                        </a:defRPr>
                      </a:pPr>
                      <a:r>
                        <a:t>8% to 15% per transaction</a:t>
                      </a:r>
                    </a:p>
                  </a:txBody>
                  <a:tcPr>
                    <a:solidFill>
                      <a:srgbClr val="FFFFFF"/>
                    </a:solidFill>
                  </a:tcPr>
                </a:tc>
                <a:tc>
                  <a:txBody>
                    <a:bodyPr/>
                    <a:lstStyle/>
                    <a:p>
                      <a:pPr>
                        <a:defRPr sz="1200" b="1">
                          <a:solidFill>
                            <a:srgbClr val="A84331"/>
                          </a:solidFill>
                        </a:defRPr>
                      </a:pPr>
                      <a:r>
                        <a:t>0% (Completely Free)</a:t>
                      </a:r>
                    </a:p>
                  </a:txBody>
                  <a:tcPr>
                    <a:solidFill>
                      <a:srgbClr val="FDF7ED"/>
                    </a:solidFill>
                  </a:tcPr>
                </a:tc>
              </a:tr>
              <a:tr h="685800">
                <a:tc>
                  <a:txBody>
                    <a:bodyPr/>
                    <a:lstStyle/>
                    <a:p>
                      <a:pPr>
                        <a:defRPr sz="1200" b="0">
                          <a:solidFill>
                            <a:srgbClr val="1E1B18"/>
                          </a:solidFill>
                        </a:defRPr>
                      </a:pPr>
                      <a:r>
                        <a:t>Supplier Phone Access</a:t>
                      </a:r>
                    </a:p>
                  </a:txBody>
                  <a:tcPr>
                    <a:solidFill>
                      <a:srgbClr val="FFFFFF"/>
                    </a:solidFill>
                  </a:tcPr>
                </a:tc>
                <a:tc>
                  <a:txBody>
                    <a:bodyPr/>
                    <a:lstStyle/>
                    <a:p>
                      <a:pPr>
                        <a:defRPr sz="1200" b="0">
                          <a:solidFill>
                            <a:srgbClr val="1E1B18"/>
                          </a:solidFill>
                        </a:defRPr>
                      </a:pPr>
                      <a:r>
                        <a:t>Hidden behind paywall</a:t>
                      </a:r>
                    </a:p>
                  </a:txBody>
                  <a:tcPr>
                    <a:solidFill>
                      <a:srgbClr val="FFFFFF"/>
                    </a:solidFill>
                  </a:tcPr>
                </a:tc>
                <a:tc>
                  <a:txBody>
                    <a:bodyPr/>
                    <a:lstStyle/>
                    <a:p>
                      <a:pPr>
                        <a:defRPr sz="1200" b="0">
                          <a:solidFill>
                            <a:srgbClr val="1E1B18"/>
                          </a:solidFill>
                        </a:defRPr>
                      </a:pPr>
                      <a:r>
                        <a:t>Hidden (Locked in app)</a:t>
                      </a:r>
                    </a:p>
                  </a:txBody>
                  <a:tcPr>
                    <a:solidFill>
                      <a:srgbClr val="FFFFFF"/>
                    </a:solidFill>
                  </a:tcPr>
                </a:tc>
                <a:tc>
                  <a:txBody>
                    <a:bodyPr/>
                    <a:lstStyle/>
                    <a:p>
                      <a:pPr>
                        <a:defRPr sz="1200" b="1">
                          <a:solidFill>
                            <a:srgbClr val="A84331"/>
                          </a:solidFill>
                        </a:defRPr>
                      </a:pPr>
                      <a:r>
                        <a:t>Instant 1-Click Dialing</a:t>
                      </a:r>
                    </a:p>
                  </a:txBody>
                  <a:tcPr>
                    <a:solidFill>
                      <a:srgbClr val="FDF7ED"/>
                    </a:solidFill>
                  </a:tcPr>
                </a:tc>
              </a:tr>
              <a:tr h="685800">
                <a:tc>
                  <a:txBody>
                    <a:bodyPr/>
                    <a:lstStyle/>
                    <a:p>
                      <a:pPr>
                        <a:defRPr sz="1200" b="0">
                          <a:solidFill>
                            <a:srgbClr val="1E1B18"/>
                          </a:solidFill>
                        </a:defRPr>
                      </a:pPr>
                      <a:r>
                        <a:t>Regional Focus</a:t>
                      </a:r>
                    </a:p>
                  </a:txBody>
                  <a:tcPr>
                    <a:solidFill>
                      <a:srgbClr val="FFFFFF"/>
                    </a:solidFill>
                  </a:tcPr>
                </a:tc>
                <a:tc>
                  <a:txBody>
                    <a:bodyPr/>
                    <a:lstStyle/>
                    <a:p>
                      <a:pPr>
                        <a:defRPr sz="1200" b="0">
                          <a:solidFill>
                            <a:srgbClr val="1E1B18"/>
                          </a:solidFill>
                        </a:defRPr>
                      </a:pPr>
                      <a:r>
                        <a:t>Pan-India (High Noise)</a:t>
                      </a:r>
                    </a:p>
                  </a:txBody>
                  <a:tcPr>
                    <a:solidFill>
                      <a:srgbClr val="FFFFFF"/>
                    </a:solidFill>
                  </a:tcPr>
                </a:tc>
                <a:tc>
                  <a:txBody>
                    <a:bodyPr/>
                    <a:lstStyle/>
                    <a:p>
                      <a:pPr>
                        <a:defRPr sz="1200" b="0">
                          <a:solidFill>
                            <a:srgbClr val="1E1B18"/>
                          </a:solidFill>
                        </a:defRPr>
                      </a:pPr>
                      <a:r>
                        <a:t>Pan-India (Generic)</a:t>
                      </a:r>
                    </a:p>
                  </a:txBody>
                  <a:tcPr>
                    <a:solidFill>
                      <a:srgbClr val="FFFFFF"/>
                    </a:solidFill>
                  </a:tcPr>
                </a:tc>
                <a:tc>
                  <a:txBody>
                    <a:bodyPr/>
                    <a:lstStyle/>
                    <a:p>
                      <a:pPr>
                        <a:defRPr sz="1200" b="1">
                          <a:solidFill>
                            <a:srgbClr val="A84331"/>
                          </a:solidFill>
                        </a:defRPr>
                      </a:pPr>
                      <a:r>
                        <a:t>Strict 38 TN Districts</a:t>
                      </a:r>
                    </a:p>
                  </a:txBody>
                  <a:tcPr>
                    <a:solidFill>
                      <a:srgbClr val="FDF7ED"/>
                    </a:solidFill>
                  </a:tcPr>
                </a:tc>
              </a:tr>
              <a:tr h="685800">
                <a:tc>
                  <a:txBody>
                    <a:bodyPr/>
                    <a:lstStyle/>
                    <a:p>
                      <a:pPr>
                        <a:defRPr sz="1200" b="0">
                          <a:solidFill>
                            <a:srgbClr val="1E1B18"/>
                          </a:solidFill>
                        </a:defRPr>
                      </a:pPr>
                      <a:r>
                        <a:t>Catalog Upload Method</a:t>
                      </a:r>
                    </a:p>
                  </a:txBody>
                  <a:tcPr>
                    <a:solidFill>
                      <a:srgbClr val="FFFFFF"/>
                    </a:solidFill>
                  </a:tcPr>
                </a:tc>
                <a:tc>
                  <a:txBody>
                    <a:bodyPr/>
                    <a:lstStyle/>
                    <a:p>
                      <a:pPr>
                        <a:defRPr sz="1200" b="0">
                          <a:solidFill>
                            <a:srgbClr val="1E1B18"/>
                          </a:solidFill>
                        </a:defRPr>
                      </a:pPr>
                      <a:r>
                        <a:t>Slow manual forms</a:t>
                      </a:r>
                    </a:p>
                  </a:txBody>
                  <a:tcPr>
                    <a:solidFill>
                      <a:srgbClr val="FFFFFF"/>
                    </a:solidFill>
                  </a:tcPr>
                </a:tc>
                <a:tc>
                  <a:txBody>
                    <a:bodyPr/>
                    <a:lstStyle/>
                    <a:p>
                      <a:pPr>
                        <a:defRPr sz="1200" b="0">
                          <a:solidFill>
                            <a:srgbClr val="1E1B18"/>
                          </a:solidFill>
                        </a:defRPr>
                      </a:pPr>
                      <a:r>
                        <a:t>Complex enterprise EDI</a:t>
                      </a:r>
                    </a:p>
                  </a:txBody>
                  <a:tcPr>
                    <a:solidFill>
                      <a:srgbClr val="FFFFFF"/>
                    </a:solidFill>
                  </a:tcPr>
                </a:tc>
                <a:tc>
                  <a:txBody>
                    <a:bodyPr/>
                    <a:lstStyle/>
                    <a:p>
                      <a:pPr>
                        <a:defRPr sz="1200" b="1">
                          <a:solidFill>
                            <a:srgbClr val="A84331"/>
                          </a:solidFill>
                        </a:defRPr>
                      </a:pPr>
                      <a:r>
                        <a:t>Simple Excel (.xlsx) Ingestion</a:t>
                      </a:r>
                    </a:p>
                  </a:txBody>
                  <a:tcPr>
                    <a:solidFill>
                      <a:srgbClr val="FDF7ED"/>
                    </a:solidFill>
                  </a:tcPr>
                </a:tc>
              </a:tr>
              <a:tr h="685800">
                <a:tc>
                  <a:txBody>
                    <a:bodyPr/>
                    <a:lstStyle/>
                    <a:p>
                      <a:pPr>
                        <a:defRPr sz="1200" b="0">
                          <a:solidFill>
                            <a:srgbClr val="1E1B18"/>
                          </a:solidFill>
                        </a:defRPr>
                      </a:pPr>
                      <a:r>
                        <a:t>Language &amp; Context</a:t>
                      </a:r>
                    </a:p>
                  </a:txBody>
                  <a:tcPr>
                    <a:solidFill>
                      <a:srgbClr val="FFFFFF"/>
                    </a:solidFill>
                  </a:tcPr>
                </a:tc>
                <a:tc>
                  <a:txBody>
                    <a:bodyPr/>
                    <a:lstStyle/>
                    <a:p>
                      <a:pPr>
                        <a:defRPr sz="1200" b="0">
                          <a:solidFill>
                            <a:srgbClr val="1E1B18"/>
                          </a:solidFill>
                        </a:defRPr>
                      </a:pPr>
                      <a:r>
                        <a:t>English / Hindi</a:t>
                      </a:r>
                    </a:p>
                  </a:txBody>
                  <a:tcPr>
                    <a:solidFill>
                      <a:srgbClr val="FFFFFF"/>
                    </a:solidFill>
                  </a:tcPr>
                </a:tc>
                <a:tc>
                  <a:txBody>
                    <a:bodyPr/>
                    <a:lstStyle/>
                    <a:p>
                      <a:pPr>
                        <a:defRPr sz="1200" b="0">
                          <a:solidFill>
                            <a:srgbClr val="1E1B18"/>
                          </a:solidFill>
                        </a:defRPr>
                      </a:pPr>
                      <a:r>
                        <a:t>English / Hindi</a:t>
                      </a:r>
                    </a:p>
                  </a:txBody>
                  <a:tcPr>
                    <a:solidFill>
                      <a:srgbClr val="FFFFFF"/>
                    </a:solidFill>
                  </a:tcPr>
                </a:tc>
                <a:tc>
                  <a:txBody>
                    <a:bodyPr/>
                    <a:lstStyle/>
                    <a:p>
                      <a:pPr>
                        <a:defRPr sz="1200" b="1">
                          <a:solidFill>
                            <a:srgbClr val="A84331"/>
                          </a:solidFill>
                        </a:defRPr>
                      </a:pPr>
                      <a:r>
                        <a:t>Tamil Nadu Localized Context</a:t>
                      </a:r>
                    </a:p>
                  </a:txBody>
                  <a:tcPr>
                    <a:solidFill>
                      <a:srgbClr val="FDF7ED"/>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FUTURE SCOPE</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1E1B18"/>
                </a:solidFill>
              </a:defRPr>
            </a:pPr>
            <a:r>
              <a:t>Beyond The Final Year Project: Scaling WholeSync</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736E69"/>
                </a:solidFill>
              </a:defRPr>
            </a:pPr>
            <a:r>
              <a:t>Strategic roadmap for scaling from academic demo to real-world commercial impact.</a:t>
            </a:r>
          </a:p>
        </p:txBody>
      </p:sp>
      <p:sp>
        <p:nvSpPr>
          <p:cNvPr id="6" name="Rounded Rectangle 5"/>
          <p:cNvSpPr/>
          <p:nvPr/>
        </p:nvSpPr>
        <p:spPr>
          <a:xfrm>
            <a:off x="731520" y="201168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A84331"/>
                </a:solidFill>
              </a:defRPr>
            </a:pPr>
            <a:r>
              <a:t>PHASE 1: REGIONAL ACCESS</a:t>
            </a:r>
          </a:p>
          <a:p>
            <a:pPr>
              <a:defRPr b="1" sz="1600">
                <a:solidFill>
                  <a:srgbClr val="1E1B18"/>
                </a:solidFill>
              </a:defRPr>
            </a:pPr>
            <a:r>
              <a:t>Tamil Voice Search</a:t>
            </a:r>
          </a:p>
          <a:p>
            <a:pPr>
              <a:defRPr sz="1100">
                <a:solidFill>
                  <a:srgbClr val="1E1B18"/>
                </a:solidFill>
              </a:defRPr>
            </a:pPr>
            <a:r>
              <a:t>Integrating Web Speech API and Whisper AI to allow rural shopkeepers to search commodities via voice in conversational Tamil (e.g. 'விருதுநகர் மல்லி விலை').</a:t>
            </a:r>
          </a:p>
        </p:txBody>
      </p:sp>
      <p:sp>
        <p:nvSpPr>
          <p:cNvPr id="7" name="Rounded Rectangle 6"/>
          <p:cNvSpPr/>
          <p:nvPr/>
        </p:nvSpPr>
        <p:spPr>
          <a:xfrm>
            <a:off x="6126480" y="201168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D59A2B"/>
                </a:solidFill>
              </a:defRPr>
            </a:pPr>
            <a:r>
              <a:t>PHASE 2: INSTANT MESSAGING</a:t>
            </a:r>
          </a:p>
          <a:p>
            <a:pPr>
              <a:defRPr b="1" sz="1600">
                <a:solidFill>
                  <a:srgbClr val="1E1B18"/>
                </a:solidFill>
              </a:defRPr>
            </a:pPr>
            <a:r>
              <a:t>WhatsApp Business Alerts</a:t>
            </a:r>
          </a:p>
          <a:p>
            <a:pPr>
              <a:defRPr sz="1100">
                <a:solidFill>
                  <a:srgbClr val="1E1B18"/>
                </a:solidFill>
              </a:defRPr>
            </a:pPr>
            <a:r>
              <a:t>Automated stock arrival alerts and weekly wholesale rate sheets broadcast directly to subscribed retailers via WhatsApp Cloud API.</a:t>
            </a:r>
          </a:p>
        </p:txBody>
      </p:sp>
      <p:sp>
        <p:nvSpPr>
          <p:cNvPr id="8" name="Rounded Rectangle 7"/>
          <p:cNvSpPr/>
          <p:nvPr/>
        </p:nvSpPr>
        <p:spPr>
          <a:xfrm>
            <a:off x="731520" y="416052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2E7D32"/>
                </a:solidFill>
              </a:defRPr>
            </a:pPr>
            <a:r>
              <a:t>PHASE 3: SMART INSIGHTS</a:t>
            </a:r>
          </a:p>
          <a:p>
            <a:pPr>
              <a:defRPr b="1" sz="1600">
                <a:solidFill>
                  <a:srgbClr val="1E1B18"/>
                </a:solidFill>
              </a:defRPr>
            </a:pPr>
            <a:r>
              <a:t>AI Commodity Price Forecaster</a:t>
            </a:r>
          </a:p>
          <a:p>
            <a:pPr>
              <a:defRPr sz="1100">
                <a:solidFill>
                  <a:srgbClr val="1E1B18"/>
                </a:solidFill>
              </a:defRPr>
            </a:pPr>
            <a:r>
              <a:t>Predictive machine learning models forecasting seasonal wholesale price trends for pulses, spices, and grains across Tamil Nadu mandis.</a:t>
            </a:r>
          </a:p>
        </p:txBody>
      </p:sp>
      <p:sp>
        <p:nvSpPr>
          <p:cNvPr id="9" name="Rounded Rectangle 8"/>
          <p:cNvSpPr/>
          <p:nvPr/>
        </p:nvSpPr>
        <p:spPr>
          <a:xfrm>
            <a:off x="6126480" y="4160520"/>
            <a:ext cx="5120640" cy="1965960"/>
          </a:xfrm>
          <a:prstGeom prst="roundRect">
            <a:avLst/>
          </a:prstGeom>
          <a:solidFill>
            <a:srgbClr val="FFFFFF"/>
          </a:solidFill>
          <a:ln w="19050">
            <a:solidFill>
              <a:srgbClr val="E6E1DA"/>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ctr">
              <a:defRPr b="1" sz="1000">
                <a:solidFill>
                  <a:srgbClr val="6D432A"/>
                </a:solidFill>
              </a:defRPr>
            </a:pPr>
            <a:r>
              <a:t>PHASE 4: OPEN PROTOCOL</a:t>
            </a:r>
          </a:p>
          <a:p>
            <a:pPr>
              <a:defRPr b="1" sz="1600">
                <a:solidFill>
                  <a:srgbClr val="1E1B18"/>
                </a:solidFill>
              </a:defRPr>
            </a:pPr>
            <a:r>
              <a:t>ONDC Network Integration</a:t>
            </a:r>
          </a:p>
          <a:p>
            <a:pPr>
              <a:defRPr sz="1100">
                <a:solidFill>
                  <a:srgbClr val="1E1B18"/>
                </a:solidFill>
              </a:defRPr>
            </a:pPr>
            <a:r>
              <a:t>Plugging WholeSync into India's Open Network for Digital Commerce (ONDC) to enable nationwide buyer interoperability.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365760"/>
          </a:xfrm>
          <a:prstGeom prst="rect">
            <a:avLst/>
          </a:prstGeom>
          <a:noFill/>
        </p:spPr>
        <p:txBody>
          <a:bodyPr wrap="square" lIns="0" tIns="0" rIns="0" bIns="0">
            <a:spAutoFit/>
          </a:bodyPr>
          <a:lstStyle/>
          <a:p>
            <a:pPr>
              <a:defRPr sz="1100" b="1">
                <a:solidFill>
                  <a:srgbClr val="D59A2B"/>
                </a:solidFill>
              </a:defRPr>
            </a:pPr>
            <a:r>
              <a:t>VIVA DEFENSE</a:t>
            </a:r>
          </a:p>
        </p:txBody>
      </p:sp>
      <p:sp>
        <p:nvSpPr>
          <p:cNvPr id="4" name="TextBox 3"/>
          <p:cNvSpPr txBox="1"/>
          <p:nvPr/>
        </p:nvSpPr>
        <p:spPr>
          <a:xfrm>
            <a:off x="731520" y="777240"/>
            <a:ext cx="10515600" cy="731520"/>
          </a:xfrm>
          <a:prstGeom prst="rect">
            <a:avLst/>
          </a:prstGeom>
          <a:noFill/>
        </p:spPr>
        <p:txBody>
          <a:bodyPr wrap="square" lIns="0" tIns="0" rIns="0" bIns="0">
            <a:spAutoFit/>
          </a:bodyPr>
          <a:lstStyle/>
          <a:p>
            <a:pPr>
              <a:defRPr sz="2600" b="1">
                <a:solidFill>
                  <a:srgbClr val="FFFFFF"/>
                </a:solidFill>
              </a:defRPr>
            </a:pPr>
            <a:r>
              <a:t>Faculty Q&amp;A: Ready-Made Technical Answers</a:t>
            </a:r>
          </a:p>
        </p:txBody>
      </p:sp>
      <p:sp>
        <p:nvSpPr>
          <p:cNvPr id="5" name="TextBox 4"/>
          <p:cNvSpPr txBox="1"/>
          <p:nvPr/>
        </p:nvSpPr>
        <p:spPr>
          <a:xfrm>
            <a:off x="731520" y="1463040"/>
            <a:ext cx="10515600" cy="365760"/>
          </a:xfrm>
          <a:prstGeom prst="rect">
            <a:avLst/>
          </a:prstGeom>
          <a:noFill/>
        </p:spPr>
        <p:txBody>
          <a:bodyPr wrap="square" lIns="0" tIns="0" rIns="0" bIns="0">
            <a:spAutoFit/>
          </a:bodyPr>
          <a:lstStyle/>
          <a:p>
            <a:pPr>
              <a:defRPr sz="1300">
                <a:solidFill>
                  <a:srgbClr val="C8C3BE"/>
                </a:solidFill>
              </a:defRPr>
            </a:pPr>
            <a:r>
              <a:t>Defending architectural decisions under tough examination.</a:t>
            </a:r>
          </a:p>
        </p:txBody>
      </p:sp>
      <p:sp>
        <p:nvSpPr>
          <p:cNvPr id="6" name="Rounded Rectangle 5"/>
          <p:cNvSpPr/>
          <p:nvPr/>
        </p:nvSpPr>
        <p:spPr>
          <a:xfrm>
            <a:off x="731520" y="2011680"/>
            <a:ext cx="10698480" cy="12801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74320" rIns="274320" tIns="137160"/>
          <a:lstStyle/>
          <a:p>
            <a:pPr algn="ctr">
              <a:defRPr b="1" sz="1300">
                <a:solidFill>
                  <a:srgbClr val="D59A2B"/>
                </a:solidFill>
              </a:defRPr>
            </a:pPr>
            <a:r>
              <a:t>Q1: 'Why didn't you use MERN stack (React / Node.js)?'</a:t>
            </a:r>
          </a:p>
          <a:p>
            <a:pPr>
              <a:defRPr sz="1100">
                <a:solidFill>
                  <a:srgbClr val="FFFFFF"/>
                </a:solidFill>
              </a:defRPr>
            </a:pPr>
            <a:r>
              <a:t>Answer: Django provides built-in ORM parameterization, CSRF middleware, session auth, and production security out-of-the-box. Node/React requires 85,000 npm dependencies, manual JWT handling, and lacks the rock-solid relational integrity required for commercial wholesale directories.</a:t>
            </a:r>
          </a:p>
        </p:txBody>
      </p:sp>
      <p:sp>
        <p:nvSpPr>
          <p:cNvPr id="7" name="Rounded Rectangle 6"/>
          <p:cNvSpPr/>
          <p:nvPr/>
        </p:nvSpPr>
        <p:spPr>
          <a:xfrm>
            <a:off x="731520" y="3429000"/>
            <a:ext cx="10698480" cy="12801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74320" rIns="274320" tIns="137160"/>
          <a:lstStyle/>
          <a:p>
            <a:pPr algn="ctr">
              <a:defRPr b="1" sz="1300">
                <a:solidFill>
                  <a:srgbClr val="2E7D32"/>
                </a:solidFill>
              </a:defRPr>
            </a:pPr>
            <a:r>
              <a:t>Q2: 'What happens if your Redis/Celery queue goes down in production?'</a:t>
            </a:r>
          </a:p>
          <a:p>
            <a:pPr>
              <a:defRPr sz="1100">
                <a:solidFill>
                  <a:srgbClr val="FFFFFF"/>
                </a:solidFill>
              </a:defRPr>
            </a:pPr>
            <a:r>
              <a:t>Answer: WholeSync implements graceful degradation! If Celery or Valkey cannot be reached, the system catches the socket error and immediately executes synchronous email dispatch. Zero verification emails or user transactions are ever dropped.</a:t>
            </a:r>
          </a:p>
        </p:txBody>
      </p:sp>
      <p:sp>
        <p:nvSpPr>
          <p:cNvPr id="8" name="Rounded Rectangle 7"/>
          <p:cNvSpPr/>
          <p:nvPr/>
        </p:nvSpPr>
        <p:spPr>
          <a:xfrm>
            <a:off x="731520" y="4846320"/>
            <a:ext cx="10698480" cy="1280160"/>
          </a:xfrm>
          <a:prstGeom prst="roundRect">
            <a:avLst/>
          </a:prstGeom>
          <a:solidFill>
            <a:srgbClr val="2A2622"/>
          </a:solidFill>
          <a:ln w="19050">
            <a:solidFill>
              <a:srgbClr val="413C37"/>
            </a:solidFill>
          </a:ln>
        </p:spPr>
        <p:style>
          <a:lnRef idx="1">
            <a:schemeClr val="accent1"/>
          </a:lnRef>
          <a:fillRef idx="3">
            <a:schemeClr val="accent1"/>
          </a:fillRef>
          <a:effectRef idx="2">
            <a:schemeClr val="accent1"/>
          </a:effectRef>
          <a:fontRef idx="minor">
            <a:schemeClr val="lt1"/>
          </a:fontRef>
        </p:style>
        <p:txBody>
          <a:bodyPr rtlCol="0" anchor="ctr" lIns="274320" rIns="274320" tIns="137160"/>
          <a:lstStyle/>
          <a:p>
            <a:pPr algn="ctr">
              <a:defRPr b="1" sz="1300">
                <a:solidFill>
                  <a:srgbClr val="A84331"/>
                </a:solidFill>
              </a:defRPr>
            </a:pPr>
            <a:r>
              <a:t>Q3: 'How do you prevent malicious wholesalers from uploading fake inventory?'</a:t>
            </a:r>
          </a:p>
          <a:p>
            <a:pPr>
              <a:defRPr sz="1100">
                <a:solidFill>
                  <a:srgbClr val="FFFFFF"/>
                </a:solidFill>
              </a:defRPr>
            </a:pPr>
            <a:r>
              <a:t>Answer: WholeSync enforces a 3-tier validation: 1) Verified merchant badges tied to phone/GSTIN confirmation, 2) Strict OpenPyXL schema checking during upload, and 3) IP rate-limiting on catalog mutations.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A843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418320" cy="2743200"/>
          </a:xfrm>
          <a:prstGeom prst="rect">
            <a:avLst/>
          </a:prstGeom>
          <a:noFill/>
        </p:spPr>
        <p:txBody>
          <a:bodyPr wrap="square">
            <a:spAutoFit/>
          </a:bodyPr>
          <a:lstStyle/>
          <a:p>
            <a:pPr algn="ctr">
              <a:defRPr sz="6400" b="1">
                <a:solidFill>
                  <a:srgbClr val="A84331"/>
                </a:solidFill>
              </a:defRPr>
            </a:pPr>
            <a:r>
              <a:t>WholeSync</a:t>
            </a:r>
          </a:p>
          <a:p>
            <a:pPr algn="ctr">
              <a:defRPr sz="2200" b="1">
                <a:solidFill>
                  <a:srgbClr val="FFFFFF"/>
                </a:solidFill>
              </a:defRPr>
            </a:pPr>
            <a:r>
              <a:t>Digitizing Local Wholesale Without Destroying Local Relationships.</a:t>
            </a:r>
          </a:p>
          <a:p>
            <a:pPr algn="ctr">
              <a:defRPr sz="1600">
                <a:solidFill>
                  <a:srgbClr val="D59A2B"/>
                </a:solidFill>
              </a:defRPr>
            </a:pPr>
            <a:r>
              <a:t>38 Districts • Zero Commission • Direct Phone Calls • Production Ready</a:t>
            </a:r>
          </a:p>
        </p:txBody>
      </p:sp>
      <p:sp>
        <p:nvSpPr>
          <p:cNvPr id="5" name="Rounded Rectangle 4"/>
          <p:cNvSpPr/>
          <p:nvPr/>
        </p:nvSpPr>
        <p:spPr>
          <a:xfrm>
            <a:off x="1828800" y="4297680"/>
            <a:ext cx="8503920" cy="1645920"/>
          </a:xfrm>
          <a:prstGeom prst="roundRect">
            <a:avLst/>
          </a:prstGeom>
          <a:solidFill>
            <a:srgbClr val="2A2622"/>
          </a:solidFill>
          <a:ln w="19050">
            <a:solidFill>
              <a:srgbClr val="D59A2B"/>
            </a:solidFill>
          </a:ln>
        </p:spPr>
        <p:style>
          <a:lnRef idx="1">
            <a:schemeClr val="accent1"/>
          </a:lnRef>
          <a:fillRef idx="3">
            <a:schemeClr val="accent1"/>
          </a:fillRef>
          <a:effectRef idx="2">
            <a:schemeClr val="accent1"/>
          </a:effectRef>
          <a:fontRef idx="minor">
            <a:schemeClr val="lt1"/>
          </a:fontRef>
        </p:style>
        <p:txBody>
          <a:bodyPr rtlCol="0" anchor="ctr" lIns="365760" tIns="228600"/>
          <a:lstStyle/>
          <a:p>
            <a:pPr algn="ctr">
              <a:defRPr b="1" sz="1800">
                <a:solidFill>
                  <a:srgbClr val="FFFFFF"/>
                </a:solidFill>
              </a:defRPr>
            </a:pPr>
            <a:r>
              <a:t>Thank You! We are now open for Questions &amp; Live Demo.</a:t>
            </a:r>
          </a:p>
          <a:p>
            <a:pPr algn="ctr">
              <a:defRPr i="1" sz="1300">
                <a:solidFill>
                  <a:srgbClr val="D59A2B"/>
                </a:solidFill>
              </a:defRPr>
            </a:pPr>
            <a:r>
              <a:t>(Please go easy, our server is on Render free tier!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